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8971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i-pharmacy-assistant.streamlit.app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0F766E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194560" y="4206240"/>
            <a:ext cx="5029200" cy="5029200"/>
          </a:xfrm>
          <a:prstGeom prst="ellipse">
            <a:avLst/>
          </a:prstGeom>
          <a:solidFill>
            <a:srgbClr val="0F766E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INSURANCE POLICY ASSISTANT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Insurance Policy Assistant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703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0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نظام الاستعلام الرقمي عن سياسات ومحظورات التأمين الطبي للصيدليات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4919749"/>
            <a:ext cx="82296" cy="320040"/>
          </a:xfrm>
          <a:prstGeom prst="roundRect">
            <a:avLst>
              <a:gd name="adj" fmla="val 22222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1560" y="4874029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Decision Support System for Egyptian Pharmacy Dispensing Rules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5376949"/>
            <a:ext cx="82296" cy="320040"/>
          </a:xfrm>
          <a:prstGeom prst="roundRect">
            <a:avLst>
              <a:gd name="adj" fmla="val 22222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5331229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Real Dataset — 77 Egyptian Insurance Entities &amp; TPAs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Challenges Facing Pharmacies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121C2E"/>
          </a:solidFill>
          <a:ln/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2057400"/>
            <a:ext cx="822960" cy="822960"/>
          </a:xfrm>
          <a:prstGeom prst="ellipse">
            <a:avLst/>
          </a:prstGeom>
          <a:solidFill>
            <a:srgbClr val="FBBF2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057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0120" y="310896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Dispensing Delays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60120" y="3703320"/>
            <a:ext cx="2788920" cy="0"/>
          </a:xfrm>
          <a:prstGeom prst="line">
            <a:avLst/>
          </a:prstGeom>
          <a:noFill/>
          <a:ln w="9525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3886200"/>
            <a:ext cx="27889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الصيدلي بيستهلك وقت طويل في التدوير في ورق شيتات أو مواقع مختلفة لمعرفة قواعد كل شركة.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69164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121C2E"/>
          </a:solidFill>
          <a:ln/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9160" y="2057400"/>
            <a:ext cx="822960" cy="822960"/>
          </a:xfrm>
          <a:prstGeom prst="ellipse">
            <a:avLst/>
          </a:prstGeom>
          <a:solidFill>
            <a:srgbClr val="F87171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09160" y="2057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🚫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09160" y="310896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Rejections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709160" y="3703320"/>
            <a:ext cx="2788920" cy="0"/>
          </a:xfrm>
          <a:prstGeom prst="line">
            <a:avLst/>
          </a:prstGeom>
          <a:noFill/>
          <a:ln w="9525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09160" y="3886200"/>
            <a:ext cx="27889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الأخطاء البشرية في صرف أصناف محظورة أو روشتات غير مختومة بتسبب خسائر مالية للصيدلية.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121C2E"/>
          </a:solidFill>
          <a:ln/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458200" y="2057400"/>
            <a:ext cx="822960" cy="822960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458200" y="2057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📞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458200" y="310896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Overhead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458200" y="3703320"/>
            <a:ext cx="2788920" cy="0"/>
          </a:xfrm>
          <a:prstGeom prst="line">
            <a:avLst/>
          </a:prstGeom>
          <a:noFill/>
          <a:ln w="9525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458200" y="3886200"/>
            <a:ext cx="27889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الاعتماد الزائد على المكالمات والفاكسات لمعرفة شروط الصرف وأرقام التواصل.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OBJECTIVES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Objectives &amp; Proposed Solution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9513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1835545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DD4BF">
              <a:alpha val="15000"/>
            </a:srgbClr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835545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</a:t>
            </a:r>
            <a:r>
              <a:rPr lang="ar-SA" sz="18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88920" y="180354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88920" y="1965954"/>
            <a:ext cx="8366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الهدف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الرئيسي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ar-SA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تحويل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البحث من دقائق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لثواني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معدودة</a:t>
            </a:r>
            <a:r>
              <a:rPr lang="ar-SA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2.5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ملي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ثانية</a:t>
            </a:r>
            <a:r>
              <a:rPr lang="ar-SA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887105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1622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60120" y="3143137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DD4BF">
              <a:alpha val="15000"/>
            </a:srgbClr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3143137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88920" y="310025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273546"/>
            <a:ext cx="8366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تغطية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شاملة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ar-SA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تجميع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قواعد</a:t>
            </a:r>
            <a:r>
              <a:rPr lang="ar-SA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77 شركة تأمين مصرية في قاعدة بيانات رقمية واحدة موحدة.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194697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60120" y="4450729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DD4BF">
              <a:alpha val="15000"/>
            </a:srgbClr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4450729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 / EN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788920" y="4413285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88920" y="4581138"/>
            <a:ext cx="8366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دعم ثنائي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اللغة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ar-SA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إمكانية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البحث باللغة العربية والإنجليزية.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5502289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1622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60120" y="5758321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DD4BF">
              <a:alpha val="15000"/>
            </a:srgbClr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0120" y="5758321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788920" y="571543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788920" y="5888730"/>
            <a:ext cx="8366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فحص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تلقائي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ar-SA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فحص</a:t>
            </a: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المحظورات وتوليد خطابات الموافقات فوراً.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&amp; Knowledge Base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مصدر البيانات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Insurance Companies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3794760"/>
            <a:ext cx="3017520" cy="0"/>
          </a:xfrm>
          <a:prstGeom prst="line">
            <a:avLst/>
          </a:prstGeom>
          <a:noFill/>
          <a:ln w="9525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39776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766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914400" y="4754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Items / بند سياسة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داتا حقيقية لشركات التأمين المصرية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80560" y="169164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Fields Covered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80560" y="2148840"/>
            <a:ext cx="3429000" cy="9144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81728" y="253288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37760" y="22402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Excluded Items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258775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المحظورات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92440" y="2148840"/>
            <a:ext cx="3429000" cy="9144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293608" y="253288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549640" y="22402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Dispensing Duration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49640" y="258775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أقصى مدة للصرف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80560" y="3246120"/>
            <a:ext cx="3429000" cy="9144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681728" y="363016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37760" y="33375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Stamp &amp; Signature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368503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أختام وتوقيعات الروشتة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92440" y="3246120"/>
            <a:ext cx="3429000" cy="9144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293608" y="363016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549640" y="33375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Validity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49640" y="368503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صلاحية نموذج الصرف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80560" y="4343400"/>
            <a:ext cx="3429000" cy="9144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681728" y="4727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37760" y="44348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Contacts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37760" y="478231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أرقام ومسئولي الموافقات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92440" y="4343400"/>
            <a:ext cx="3429000" cy="9144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293608" y="4727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549640" y="44348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Co-payment &amp; Max Limits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549640" y="478231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 التحمل والحد الأقصى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System Modules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121408" cy="3931920"/>
          </a:xfrm>
          <a:prstGeom prst="roundRect">
            <a:avLst>
              <a:gd name="adj" fmla="val 3879"/>
            </a:avLst>
          </a:prstGeom>
          <a:solidFill>
            <a:srgbClr val="121C2E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289304" y="2194560"/>
            <a:ext cx="822960" cy="822960"/>
          </a:xfrm>
          <a:prstGeom prst="ellipse">
            <a:avLst/>
          </a:prstGeom>
          <a:solidFill>
            <a:srgbClr val="2DD4B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89304" y="2194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💬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32004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Search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184708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محرك بحث وتفتيش في السياسات بلغة طبيعية.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907792" y="1874520"/>
            <a:ext cx="2121408" cy="3931920"/>
          </a:xfrm>
          <a:prstGeom prst="roundRect">
            <a:avLst>
              <a:gd name="adj" fmla="val 3879"/>
            </a:avLst>
          </a:prstGeom>
          <a:solidFill>
            <a:srgbClr val="121C2E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57016" y="2194560"/>
            <a:ext cx="822960" cy="822960"/>
          </a:xfrm>
          <a:prstGeom prst="ellipse">
            <a:avLst/>
          </a:prstGeom>
          <a:solidFill>
            <a:srgbClr val="2DD4B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57016" y="2194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📖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044952" y="32004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Directory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044952" y="3794760"/>
            <a:ext cx="184708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 شامل لتصفح جميع الشركات والبنود.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75504" y="1874520"/>
            <a:ext cx="2121408" cy="3931920"/>
          </a:xfrm>
          <a:prstGeom prst="roundRect">
            <a:avLst>
              <a:gd name="adj" fmla="val 3879"/>
            </a:avLst>
          </a:prstGeom>
          <a:solidFill>
            <a:srgbClr val="121C2E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824728" y="2194560"/>
            <a:ext cx="822960" cy="822960"/>
          </a:xfrm>
          <a:prstGeom prst="ellipse">
            <a:avLst/>
          </a:prstGeom>
          <a:solidFill>
            <a:srgbClr val="2DD4B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824728" y="2194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312664" y="32004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Quick-Check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312664" y="3794760"/>
            <a:ext cx="184708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فحص سريع ومباشر للأصناف المحظورة.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43216" y="1874520"/>
            <a:ext cx="2121408" cy="3931920"/>
          </a:xfrm>
          <a:prstGeom prst="roundRect">
            <a:avLst>
              <a:gd name="adj" fmla="val 3879"/>
            </a:avLst>
          </a:prstGeom>
          <a:solidFill>
            <a:srgbClr val="121C2E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092440" y="2194560"/>
            <a:ext cx="822960" cy="822960"/>
          </a:xfrm>
          <a:prstGeom prst="ellipse">
            <a:avLst/>
          </a:prstGeom>
          <a:solidFill>
            <a:srgbClr val="2DD4B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092440" y="2194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🏥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580376" y="32004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Check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580376" y="3794760"/>
            <a:ext cx="184708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تقييم نسبة قبول المطالبة والتوافق مع الشروط (0–100%).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710928" y="1874520"/>
            <a:ext cx="2121408" cy="3931920"/>
          </a:xfrm>
          <a:prstGeom prst="roundRect">
            <a:avLst>
              <a:gd name="adj" fmla="val 3879"/>
            </a:avLst>
          </a:prstGeom>
          <a:solidFill>
            <a:srgbClr val="121C2E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360152" y="2194560"/>
            <a:ext cx="822960" cy="822960"/>
          </a:xfrm>
          <a:prstGeom prst="ellipse">
            <a:avLst/>
          </a:prstGeom>
          <a:solidFill>
            <a:srgbClr val="2DD4B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360152" y="2194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9848088" y="32004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 Generator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848088" y="3794760"/>
            <a:ext cx="184708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صياغة خطاب رسمي لطلب موافقة مسبقة بأرقام الشركة الحقيقية.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Engine Architecture &amp; Text Processing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024128"/>
          </a:xfrm>
          <a:prstGeom prst="roundRect">
            <a:avLst>
              <a:gd name="adj" fmla="val 6250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640080" cy="640080"/>
          </a:xfrm>
          <a:prstGeom prst="ellipse">
            <a:avLst/>
          </a:prstGeom>
          <a:solidFill>
            <a:srgbClr val="2DD4BF">
              <a:alpha val="20000"/>
            </a:srgbClr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9751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1892808"/>
            <a:ext cx="3291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Arabic Normalization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212080" y="1920240"/>
            <a:ext cx="0" cy="749808"/>
          </a:xfrm>
          <a:prstGeom prst="line">
            <a:avLst/>
          </a:prstGeom>
          <a:noFill/>
          <a:ln w="9525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40680" y="1783080"/>
            <a:ext cx="580644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ar-SA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40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إزالة</a:t>
            </a: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التشكيل، وتوحيد الألفات (أ/إ/آ → </a:t>
            </a:r>
            <a:r>
              <a:rPr lang="ar-SA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ا) والتاء المربوطة (ة →</a:t>
            </a:r>
            <a:r>
              <a:rPr lang="ar-SA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ه</a:t>
            </a:r>
            <a:r>
              <a:rPr lang="ar-SA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وحذف الكلمات الشائعة.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944368"/>
            <a:ext cx="10881360" cy="1024128"/>
          </a:xfrm>
          <a:prstGeom prst="roundRect">
            <a:avLst>
              <a:gd name="adj" fmla="val 6250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" y="3136392"/>
            <a:ext cx="640080" cy="640080"/>
          </a:xfrm>
          <a:prstGeom prst="ellipse">
            <a:avLst/>
          </a:prstGeom>
          <a:solidFill>
            <a:srgbClr val="2DD4BF">
              <a:alpha val="20000"/>
            </a:srgbClr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4400" y="313639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828800" y="3054096"/>
            <a:ext cx="3291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Vector Space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212080" y="3081528"/>
            <a:ext cx="0" cy="749808"/>
          </a:xfrm>
          <a:prstGeom prst="line">
            <a:avLst/>
          </a:prstGeom>
          <a:noFill/>
          <a:ln w="9525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40680" y="2944368"/>
            <a:ext cx="580644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تحويل النصوص لمتجهات رياضية للاستعلام الدقيق.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105656"/>
            <a:ext cx="10881360" cy="1024128"/>
          </a:xfrm>
          <a:prstGeom prst="roundRect">
            <a:avLst>
              <a:gd name="adj" fmla="val 6250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14400" y="4297680"/>
            <a:ext cx="640080" cy="640080"/>
          </a:xfrm>
          <a:prstGeom prst="ellipse">
            <a:avLst/>
          </a:prstGeom>
          <a:solidFill>
            <a:srgbClr val="2DD4BF">
              <a:alpha val="20000"/>
            </a:srgbClr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14400" y="4297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828800" y="4215384"/>
            <a:ext cx="3291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 Similarity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212080" y="4242816"/>
            <a:ext cx="0" cy="749808"/>
          </a:xfrm>
          <a:prstGeom prst="line">
            <a:avLst/>
          </a:prstGeom>
          <a:noFill/>
          <a:ln w="9525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40680" y="4105656"/>
            <a:ext cx="580644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قياس درجة تطابق سؤال الصيدلي مع نص السياسة.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5266944"/>
            <a:ext cx="10881360" cy="1024128"/>
          </a:xfrm>
          <a:prstGeom prst="roundRect">
            <a:avLst>
              <a:gd name="adj" fmla="val 6250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14400" y="5458968"/>
            <a:ext cx="640080" cy="640080"/>
          </a:xfrm>
          <a:prstGeom prst="ellipse">
            <a:avLst/>
          </a:prstGeom>
          <a:solidFill>
            <a:srgbClr val="2DD4BF">
              <a:alpha val="20000"/>
            </a:srgbClr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4400" y="54589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828800" y="5376672"/>
            <a:ext cx="3291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Fuzzy Matching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212080" y="5404104"/>
            <a:ext cx="0" cy="749808"/>
          </a:xfrm>
          <a:prstGeom prst="line">
            <a:avLst/>
          </a:prstGeom>
          <a:noFill/>
          <a:ln w="9525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40680" y="5266944"/>
            <a:ext cx="580644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التعامل مع الأخطاء الإملائية في أسماء الشركات.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Check &amp; PA Letter Generator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4114800"/>
          </a:xfrm>
          <a:prstGeom prst="roundRect">
            <a:avLst>
              <a:gd name="adj" fmla="val 1778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65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🏥  Compliance Scoring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يطابق صنف الدواء، المدة، والأختام مع قواعد الشركة الحقيقية.</a:t>
            </a:r>
            <a:endParaRPr lang="en-US" sz="1350" dirty="0"/>
          </a:p>
          <a:p>
            <a:pPr marL="0" indent="0" algn="r" rtl="1">
              <a:lnSpc>
                <a:spcPct val="13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يحسب نسبة التوافق (0–100%) ويحدد مستوى المخاطرة.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352044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4ADE80">
              <a:alpha val="18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352044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FBBF24">
              <a:alpha val="18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06040" y="3520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352044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F87171">
              <a:alpha val="18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297680" y="3520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4343400"/>
            <a:ext cx="4709160" cy="0"/>
          </a:xfrm>
          <a:prstGeom prst="line">
            <a:avLst/>
          </a:prstGeom>
          <a:noFill/>
          <a:ln w="9525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4526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892040"/>
            <a:ext cx="4709160" cy="320040"/>
          </a:xfrm>
          <a:prstGeom prst="roundRect">
            <a:avLst>
              <a:gd name="adj" fmla="val 42857"/>
            </a:avLst>
          </a:prstGeom>
          <a:solidFill>
            <a:srgbClr val="1622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14400" y="4892040"/>
            <a:ext cx="3931920" cy="320040"/>
          </a:xfrm>
          <a:prstGeom prst="roundRect">
            <a:avLst>
              <a:gd name="adj" fmla="val 42857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5285232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– 100%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173736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46520" y="19659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 PA Letter Generator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46520" y="24688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ينشئ خطاب موافقة مسبقة رسمي يحتوي على اسم مسئول الموافقات ورقم تليفونه المباشر المأخوذ من الداتا.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4800600" cy="2194560"/>
          </a:xfrm>
          <a:prstGeom prst="roundRect">
            <a:avLst>
              <a:gd name="adj" fmla="val 2500"/>
            </a:avLst>
          </a:prstGeom>
          <a:solidFill>
            <a:srgbClr val="16223A"/>
          </a:solidFill>
          <a:ln w="9525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CFF153-4482-430E-2A9B-259BCA815DF4}"/>
              </a:ext>
            </a:extLst>
          </p:cNvPr>
          <p:cNvSpPr txBox="1"/>
          <p:nvPr/>
        </p:nvSpPr>
        <p:spPr>
          <a:xfrm>
            <a:off x="6596743" y="4133963"/>
            <a:ext cx="48463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Policy Provider:                                   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شركة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التأمين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  <a:p>
            <a:r>
              <a:rPr lang="en-US" dirty="0">
                <a:solidFill>
                  <a:schemeClr val="bg1"/>
                </a:solidFill>
              </a:rPr>
              <a:t>Medication:                           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اسم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الصنف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الموصوف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  <a:p>
            <a:r>
              <a:rPr lang="en-US" dirty="0">
                <a:solidFill>
                  <a:schemeClr val="bg1"/>
                </a:solidFill>
              </a:rPr>
              <a:t>Approval Officer:                          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من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بيانات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الشركة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  <a:p>
            <a:r>
              <a:rPr lang="en-US" dirty="0">
                <a:solidFill>
                  <a:schemeClr val="bg1"/>
                </a:solidFill>
              </a:rPr>
              <a:t>Direct Line:                             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رقم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مباشر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— 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من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i="1" dirty="0" err="1">
                <a:solidFill>
                  <a:schemeClr val="bg2">
                    <a:lumMod val="75000"/>
                  </a:schemeClr>
                </a:solidFill>
              </a:rPr>
              <a:t>الداتا</a:t>
            </a:r>
            <a:r>
              <a:rPr lang="en-US" i="1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E2C871-0B53-C867-AEE0-E67F7A95B886}"/>
              </a:ext>
            </a:extLst>
          </p:cNvPr>
          <p:cNvSpPr txBox="1"/>
          <p:nvPr/>
        </p:nvSpPr>
        <p:spPr>
          <a:xfrm>
            <a:off x="6596743" y="3560237"/>
            <a:ext cx="34562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PRIOR AUTHORIZATION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Performance Evaluation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514600" cy="3291840"/>
          </a:xfrm>
          <a:prstGeom prst="roundRect">
            <a:avLst>
              <a:gd name="adj" fmla="val 3273"/>
            </a:avLst>
          </a:prstGeom>
          <a:solidFill>
            <a:srgbClr val="121C2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37490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@ 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" y="4343400"/>
            <a:ext cx="1783080" cy="0"/>
          </a:xfrm>
          <a:prstGeom prst="line">
            <a:avLst/>
          </a:prstGeom>
          <a:noFill/>
          <a:ln w="6350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448056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1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دقة النتيجة الأولى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2194560"/>
            <a:ext cx="2514600" cy="3291840"/>
          </a:xfrm>
          <a:prstGeom prst="roundRect">
            <a:avLst>
              <a:gd name="adj" fmla="val 3273"/>
            </a:avLst>
          </a:prstGeom>
          <a:solidFill>
            <a:srgbClr val="121C2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10712" y="2651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95.0%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547872" y="37490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@ 3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76472" y="4343400"/>
            <a:ext cx="1783080" cy="0"/>
          </a:xfrm>
          <a:prstGeom prst="line">
            <a:avLst/>
          </a:prstGeom>
          <a:noFill/>
          <a:ln w="6350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547872" y="448056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1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دقة </a:t>
            </a:r>
            <a:r>
              <a:rPr lang="en-US" sz="11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أعلى</a:t>
            </a:r>
            <a:r>
              <a:rPr lang="en-US" sz="11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r>
              <a:rPr lang="ar-SA" sz="11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50" dirty="0" err="1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نتائج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81344" y="2194560"/>
            <a:ext cx="2514600" cy="3291840"/>
          </a:xfrm>
          <a:prstGeom prst="roundRect">
            <a:avLst>
              <a:gd name="adj" fmla="val 3273"/>
            </a:avLst>
          </a:prstGeom>
          <a:solidFill>
            <a:srgbClr val="121C2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81344" y="2651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&lt;2.5ms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318504" y="37490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Latency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47104" y="4343400"/>
            <a:ext cx="1783080" cy="0"/>
          </a:xfrm>
          <a:prstGeom prst="line">
            <a:avLst/>
          </a:prstGeom>
          <a:noFill/>
          <a:ln w="6350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18504" y="448056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1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سرعة استجابة فائقة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51976" y="2194560"/>
            <a:ext cx="2514600" cy="3291840"/>
          </a:xfrm>
          <a:prstGeom prst="roundRect">
            <a:avLst>
              <a:gd name="adj" fmla="val 3273"/>
            </a:avLst>
          </a:prstGeom>
          <a:solidFill>
            <a:srgbClr val="121C2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951976" y="2651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9089136" y="37490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17736" y="4343400"/>
            <a:ext cx="1783080" cy="0"/>
          </a:xfrm>
          <a:prstGeom prst="line">
            <a:avLst/>
          </a:prstGeom>
          <a:noFill/>
          <a:ln w="6350">
            <a:solidFill>
              <a:srgbClr val="5B6B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89136" y="448056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1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متاح أونلاين على Streamlit Cloud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System Demo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2DD4BF">
              <a:alpha val="12000"/>
            </a:srgbClr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 </a:t>
            </a: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ai-pharmacy-assistant.streamlit.app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Questions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457200" cy="457200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0" y="335584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هي محظورات شركة يونايتد؟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372160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المحظورات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0" y="324612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Insurance exclusions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14400" y="4526280"/>
            <a:ext cx="457200" cy="457200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4526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440740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أقصى مدة صرف لشركة ويبكو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477316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ضوابط مدة العلاج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429768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Webco max dispensing duration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14400" y="5577840"/>
            <a:ext cx="457200" cy="457200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400" y="5577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54480" y="545896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رقم تليفون موافقات دريم مشرق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54480" y="582472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بيانات مسئول الموافقات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534924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Dream Mashrek approval contact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0F766E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Project Impact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835640" y="2286000"/>
            <a:ext cx="320040" cy="32004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835640" y="2286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965960"/>
            <a:ext cx="9784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تحويل عملية الاستعلام عن سياسات التأمين من عملية ورقية بطيئة إلى نظام رقمي فوري.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835640" y="3383280"/>
            <a:ext cx="320040" cy="32004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835640" y="33832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063240"/>
            <a:ext cx="9784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اعتماد كامل 100%</a:t>
            </a:r>
            <a:r>
              <a:rPr lang="ar-SA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على داتا التأمين الطبي المصرية الحقيقية.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835640" y="4480560"/>
            <a:ext cx="320040" cy="32004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835640" y="4480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4160520"/>
            <a:ext cx="9784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تحقيق نسبة دقة تزيد عن 95%</a:t>
            </a:r>
            <a:r>
              <a:rPr lang="ar-SA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وسرعة تنفيذ </a:t>
            </a:r>
            <a:r>
              <a:rPr lang="en-US" sz="1550" dirty="0" err="1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أقل</a:t>
            </a: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</a:t>
            </a:r>
            <a:r>
              <a:rPr lang="ar-SA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3ملي ثانية.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121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835640" y="5577840"/>
            <a:ext cx="320040" cy="32004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835640" y="5577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257800"/>
            <a:ext cx="9784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تسليم مشروع متكامل: تطبيق حقيقي أونلاين، كود مصدري على GitHub، </a:t>
            </a:r>
            <a:r>
              <a:rPr lang="en-US" sz="1550" dirty="0" err="1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ملف</a:t>
            </a: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Methodology</a:t>
            </a:r>
            <a:r>
              <a:rPr lang="ar-SA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وورد</a:t>
            </a: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</a:t>
            </a:r>
            <a:r>
              <a:rPr lang="en-US" sz="1550" dirty="0" err="1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وJupyter</a:t>
            </a: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Notebooks</a:t>
            </a:r>
            <a:r>
              <a:rPr lang="ar-SA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منفذة</a:t>
            </a:r>
            <a:r>
              <a:rPr lang="en-US" sz="15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632</Words>
  <Application>Microsoft Office PowerPoint</Application>
  <PresentationFormat>Widescreen</PresentationFormat>
  <Paragraphs>159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Alaa Zalat</cp:lastModifiedBy>
  <cp:revision>6</cp:revision>
  <dcterms:created xsi:type="dcterms:W3CDTF">2026-07-27T11:26:11Z</dcterms:created>
  <dcterms:modified xsi:type="dcterms:W3CDTF">2026-07-27T13:30:26Z</dcterms:modified>
</cp:coreProperties>
</file>