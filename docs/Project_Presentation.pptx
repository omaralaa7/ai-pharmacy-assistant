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Calibri"/>
              </a:defRPr>
            </a:pPr>
            <a:r>
              <a:t>Medical Insurance Policy Assistant</a:t>
            </a:r>
          </a:p>
          <a:p>
            <a:pPr>
              <a:spcBef>
                <a:spcPts val="1000"/>
              </a:spcBef>
              <a:defRPr sz="2200">
                <a:solidFill>
                  <a:srgbClr val="00D4AA"/>
                </a:solidFill>
                <a:latin typeface="Segoe UI"/>
              </a:defRPr>
            </a:pPr>
            <a:r>
              <a:t>نظام الاستعلام الرقمي عن سياسات ومحظورات التأمين الطبي للصيدليات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Digital Decision Support System for Egyptian Pharmacy Dispensing Rules</a:t>
            </a:r>
            <a:br/>
            <a:r>
              <a:t>Based on Real Egyptian Insurance Dataset (77 Providers &amp; TPAs)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Problem Context &amp; Operational Challenges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Manual policy lookups create major pharmacy workflow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⏱️ Dispensing Delays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Pharmacists spend excessive time searching physical paper sheets or fragmented portals for provider-specific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🚫 Claim Rejections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Human error in identifying non-covered items or missing stamps leads to financial losses for the pharmacy.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1645920"/>
            <a:ext cx="3291840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📞 Administrative Overhead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Lack of centralized rule lookup increases reliance on phone calls and fax approvals.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System Overview &amp; Core Objectives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A centralized, intelligent policy retrieval platform for Egyptian pharmacies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800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D4AA"/>
                </a:solidFill>
              </a:rPr>
              <a:t>🎯 Centralized Repository: </a:t>
            </a:r>
            <a:r>
              <a:rPr sz="1500">
                <a:solidFill>
                  <a:srgbClr val="F1F5F9"/>
                </a:solidFill>
              </a:rPr>
              <a:t>Consolidates dispensing policy rules from 77 Egyptian insurance companies, corporate funds, and TPAs into a single structured database.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0D4AA"/>
                </a:solidFill>
              </a:rPr>
              <a:t>⚡ Sub-Millisecond Search: </a:t>
            </a:r>
            <a:r>
              <a:rPr sz="1500">
                <a:solidFill>
                  <a:srgbClr val="F1F5F9"/>
                </a:solidFill>
              </a:rPr>
              <a:t>Reduces pre-dispensing policy lookup time from minutes to under 2.5 milliseconds.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0D4AA"/>
                </a:solidFill>
              </a:rPr>
              <a:t>🌐 Bilingual Support: </a:t>
            </a:r>
            <a:r>
              <a:rPr sz="1500">
                <a:solidFill>
                  <a:srgbClr val="F1F5F9"/>
                </a:solidFill>
              </a:rPr>
              <a:t>Processes queries in both Arabic and English seamlessly.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0D4AA"/>
                </a:solidFill>
              </a:rPr>
              <a:t>📋 Real-Data Rule Engine: </a:t>
            </a:r>
            <a:r>
              <a:rPr sz="1500">
                <a:solidFill>
                  <a:srgbClr val="F1F5F9"/>
                </a:solidFill>
              </a:rPr>
              <a:t>Evaluates prescription parameters (duration, stamps, exclusions) against real provider rules.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0D4AA"/>
                </a:solidFill>
              </a:rPr>
              <a:t>📄 Automated PA Letters: </a:t>
            </a:r>
            <a:r>
              <a:rPr sz="1500">
                <a:solidFill>
                  <a:srgbClr val="F1F5F9"/>
                </a:solidFill>
              </a:rPr>
              <a:t>Drafts official prior authorization request letters with provider contact numbers and procedures.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Core Functional Modules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Five integrated tools serving the complete pharmacy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96596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6916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F1F5F9"/>
                </a:solidFill>
              </a:defRPr>
            </a:pPr>
            <a:r>
              <a:t>💬 Policy Search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Natural language query engine across all 77 providers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16935" y="1737360"/>
            <a:ext cx="196596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4095" y="1920240"/>
            <a:ext cx="16916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F1F5F9"/>
                </a:solidFill>
              </a:defRPr>
            </a:pPr>
            <a:r>
              <a:t>📖 Policy Directory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Browse &amp; filter all provider policy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351" y="1737360"/>
            <a:ext cx="196596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9512" y="1920240"/>
            <a:ext cx="16916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F1F5F9"/>
                </a:solidFill>
              </a:defRPr>
            </a:pPr>
            <a:r>
              <a:t>⚡ Quick-Check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Instant verifier for non-covered/excluded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767" y="1737360"/>
            <a:ext cx="196596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1920240"/>
            <a:ext cx="16916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600" b="1">
                <a:solidFill>
                  <a:srgbClr val="F1F5F9"/>
                </a:solidFill>
              </a:defRPr>
            </a:pPr>
            <a:r>
              <a:t>🏥 Approval Check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Rule compliance &amp; approval score (0-100%)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3184" y="1737360"/>
            <a:ext cx="196596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10344" y="1920240"/>
            <a:ext cx="16916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05</a:t>
            </a:r>
          </a:p>
          <a:p>
            <a:pPr>
              <a:spcBef>
                <a:spcPts val="1000"/>
              </a:spcBef>
              <a:defRPr sz="1600" b="1">
                <a:solidFill>
                  <a:srgbClr val="F1F5F9"/>
                </a:solidFill>
              </a:defRPr>
            </a:pPr>
            <a:r>
              <a:t>📝 PA Generator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Official prior authorization request letter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Dataset &amp; Knowledge Representation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Structured indexing of real Egyptian insurance policies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📊 Corpus Statistics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• Total Insurance Providers &amp; TPAs: 77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• Total Indexed Policy Entries: 766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• Policy Rule Categories: 14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• Primary Dataset: Real Egyptian Policy Excel Sheet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• Output Format: Structured JSON Knowledge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📋 Categories Indexed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1. Exclusions &amp; Prohibited Items (المحظورات)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2. Maximum Dispensing Duration (أقصى مدة للصرف)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3. Stamp &amp; Signature Rules (الختم / إمضاء العميل)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4. Form Validity Period (صلاحية النموذج)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5. Card &amp; ID Copy Rules (صورة الكارنية / البطاقة)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6. Approval Contact Endpoints (التواصل للموافقات)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7. Co-payment &amp; Max Limits (التحمل / الحد الأقصى)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Search Engine Architecture &amp; NLP Pipeline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Vector space retrieval model with Arabic normalization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800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0D4AA"/>
                </a:solidFill>
              </a:rPr>
              <a:t>1. Arabic Text Preprocessing: </a:t>
            </a:r>
            <a:r>
              <a:rPr sz="1400">
                <a:solidFill>
                  <a:srgbClr val="F1F5F9"/>
                </a:solidFill>
              </a:rPr>
              <a:t>Strips diacritics ([\u064B-\u0652]), normalizes alef variants (أ,إ,آ → ا), ta marbuta (ة → ه), ya (ى → ي), and filters Arabic stop-words.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00D4AA"/>
                </a:solidFill>
              </a:rPr>
              <a:t>2. Vector Space Model (TF-IDF): </a:t>
            </a:r>
            <a:r>
              <a:rPr sz="1400">
                <a:solidFill>
                  <a:srgbClr val="F1F5F9"/>
                </a:solidFill>
              </a:rPr>
              <a:t>Builds unigram and bigram term-frequency matrices across policy chunks with 5,000 max features.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00D4AA"/>
                </a:solidFill>
              </a:rPr>
              <a:t>3. Cosine Similarity Metric: </a:t>
            </a:r>
            <a:r>
              <a:rPr sz="1400">
                <a:solidFill>
                  <a:srgbClr val="F1F5F9"/>
                </a:solidFill>
              </a:rPr>
              <a:t>Computes Sim(q, d) = (q · d) / (||q|| ||d||) to score document relevance against user queries.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00D4AA"/>
                </a:solidFill>
              </a:rPr>
              <a:t>4. Fuzzy Entity Resolution: </a:t>
            </a:r>
            <a:r>
              <a:rPr sz="1400">
                <a:solidFill>
                  <a:srgbClr val="F1F5F9"/>
                </a:solidFill>
              </a:rPr>
              <a:t>Uses sequence alignment ratio (Ratio = 2|M| / (|s1| + |s2|)) to resolve brand spelling variations and typos.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00D4AA"/>
                </a:solidFill>
              </a:rPr>
              <a:t>5. Smart Intent Routing: </a:t>
            </a:r>
            <a:r>
              <a:rPr sz="1400">
                <a:solidFill>
                  <a:srgbClr val="F1F5F9"/>
                </a:solidFill>
              </a:rPr>
              <a:t>Directs exact company/category matches while providing TF-IDF fallback for natural language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Real-Data Compliance &amp; PA Letter Generator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Automated decision evaluation based on actual provider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🏥 Approval Compliance Check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Checks requested medication against company's exclusion list.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Verifies duration against company's max duration (e.g. 14 days).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Checks doctor stamp &amp; diagnosis requirements.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Outputs Compliance Score (0-100%) and Risk Level (LOW / MEDIUM / HIGH).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📝 PA Letter Generator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Auto-populates official prior authorization request letters.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Pulls real representative names and phone numbers from the dataset.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Includes company-specific approval procedures.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Formatted in clean RTL Arabic for immediate printing/downloading.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System Performance &amp; Benchmark Results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Experimental results demonstrating retrieval accuracy and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90.0%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F1F5F9"/>
                </a:solidFill>
              </a:defRPr>
            </a:pPr>
            <a:r>
              <a:t>Precision @ 1</a:t>
            </a:r>
          </a:p>
          <a:p>
            <a:pPr algn="ctr"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Top-1 query match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737360"/>
            <a:ext cx="246888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21031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95.0%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F1F5F9"/>
                </a:solidFill>
              </a:defRPr>
            </a:pPr>
            <a:r>
              <a:t>Precision @ 3</a:t>
            </a:r>
          </a:p>
          <a:p>
            <a:pPr algn="ctr"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Top-3 query match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37360"/>
            <a:ext cx="246888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21031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&lt; 2.5 ms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F1F5F9"/>
                </a:solidFill>
              </a:defRPr>
            </a:pPr>
            <a:r>
              <a:t>Average Latency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Sub-millisecond query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737360"/>
            <a:ext cx="2468880" cy="411480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21031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24 / 7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F1F5F9"/>
                </a:solidFill>
              </a:defRPr>
            </a:pPr>
            <a:r>
              <a:t>Availability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Deployed on Streamlit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Live Prototype &amp; Demo Queries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Try the live web application on Streamlit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800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🌐 Live Application URL: ai-pharmacy-assistant.streamlit.app</a:t>
            </a:r>
          </a:p>
          <a:p>
            <a:pPr>
              <a:spcBef>
                <a:spcPts val="1600"/>
              </a:spcBef>
              <a:defRPr sz="1600" b="1">
                <a:solidFill>
                  <a:srgbClr val="F1F5F9"/>
                </a:solidFill>
              </a:defRPr>
            </a:pPr>
            <a:r>
              <a:t>Recommended Live Presentation Queries:</a:t>
            </a:r>
          </a:p>
          <a:p>
            <a:pPr>
              <a:spcBef>
                <a:spcPts val="1000"/>
              </a:spcBef>
              <a:defRPr sz="1500" b="1">
                <a:solidFill>
                  <a:srgbClr val="00D4AA"/>
                </a:solidFill>
              </a:defRPr>
            </a:pPr>
            <a:r>
              <a:t>1. "ما هي محظورات شركة يونايتد؟"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→ Instant retrieval of excluded items list for United Insurance.</a:t>
            </a:r>
          </a:p>
          <a:p>
            <a:pPr>
              <a:spcBef>
                <a:spcPts val="1000"/>
              </a:spcBef>
              <a:defRPr sz="1500" b="1">
                <a:solidFill>
                  <a:srgbClr val="00D4AA"/>
                </a:solidFill>
              </a:defRPr>
            </a:pPr>
            <a:r>
              <a:t>2. "أقصى مدة صرف لشركة ويبكو"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→ Retrieves maximum dispensing duration rules for WEPCO.</a:t>
            </a:r>
          </a:p>
          <a:p>
            <a:pPr>
              <a:spcBef>
                <a:spcPts val="1000"/>
              </a:spcBef>
              <a:defRPr sz="1500" b="1">
                <a:solidFill>
                  <a:srgbClr val="00D4AA"/>
                </a:solidFill>
              </a:defRPr>
            </a:pPr>
            <a:r>
              <a:t>3. "رقم تليفون موافقات دريم مشرق"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→ Displays approval contact numbers and representative details for Dream Mashreq.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  <a:latin typeface="Calibri"/>
              </a:defRPr>
            </a:pPr>
            <a:r>
              <a:t>Conclusion &amp; Project Significance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Centralized policy retrieval for Egyptian pharmacy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800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D4AA"/>
                </a:solidFill>
              </a:rPr>
              <a:t>✅ Operational Impact: </a:t>
            </a:r>
            <a:r>
              <a:rPr sz="1500">
                <a:solidFill>
                  <a:srgbClr val="F1F5F9"/>
                </a:solidFill>
              </a:rPr>
              <a:t>Transforms paper policy sheets into an instant digital decision support system for pharmacists.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0D4AA"/>
                </a:solidFill>
              </a:rPr>
              <a:t>✅ Data Fidelity: </a:t>
            </a:r>
            <a:r>
              <a:rPr sz="1500">
                <a:solidFill>
                  <a:srgbClr val="F1F5F9"/>
                </a:solidFill>
              </a:rPr>
              <a:t>Built 100% on real Egyptian insurance policy data covering 77 companies and 766 rules.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0D4AA"/>
                </a:solidFill>
              </a:rPr>
              <a:t>✅ High Performance: </a:t>
            </a:r>
            <a:r>
              <a:rPr sz="1500">
                <a:solidFill>
                  <a:srgbClr val="F1F5F9"/>
                </a:solidFill>
              </a:rPr>
              <a:t>Achieves 95.0% Precision@3 with sub-3ms query latency.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0D4AA"/>
                </a:solidFill>
              </a:rPr>
              <a:t>✅ Full Deliverable Package: </a:t>
            </a:r>
            <a:r>
              <a:rPr sz="1500">
                <a:solidFill>
                  <a:srgbClr val="F1F5F9"/>
                </a:solidFill>
              </a:rPr>
              <a:t>Includes web app, GitHub repo, Word thesis methodology, Jupyter notebooks, and presentation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